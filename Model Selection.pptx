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18288000" cy="10287000"/>
  <p:notesSz cx="6858000" cy="9144000"/>
  <p:embeddedFontLst>
    <p:embeddedFont>
      <p:font typeface="Poppins" charset="1" panose="00000500000000000000"/>
      <p:regular r:id="rId33"/>
    </p:embeddedFont>
    <p:embeddedFont>
      <p:font typeface="Poppins Semi-Bold" charset="1" panose="00000700000000000000"/>
      <p:regular r:id="rId34"/>
    </p:embeddedFont>
    <p:embeddedFont>
      <p:font typeface="DM Sans" charset="1" panose="00000000000000000000"/>
      <p:regular r:id="rId35"/>
    </p:embeddedFont>
    <p:embeddedFont>
      <p:font typeface="Poppins Bold" charset="1" panose="00000800000000000000"/>
      <p:regular r:id="rId36"/>
    </p:embeddedFont>
    <p:embeddedFont>
      <p:font typeface="DM Sans Bold" charset="1" panose="00000000000000000000"/>
      <p:regular r:id="rId37"/>
    </p:embeddedFont>
    <p:embeddedFont>
      <p:font typeface="Times New Roman" charset="1" panose="020206030504050203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0950" y="3769445"/>
            <a:ext cx="10588604" cy="4557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2"/>
              </a:lnSpc>
            </a:pPr>
            <a:r>
              <a:rPr lang="en-US" sz="6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Analysis of Multi-Model Transformer Architectures for classical Arabic Author Identification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1132695" y="-408820"/>
            <a:ext cx="7179569" cy="10695820"/>
          </a:xfrm>
          <a:custGeom>
            <a:avLst/>
            <a:gdLst/>
            <a:ahLst/>
            <a:cxnLst/>
            <a:rect r="r" b="b" t="t" l="l"/>
            <a:pathLst>
              <a:path h="10695820" w="7179569">
                <a:moveTo>
                  <a:pt x="0" y="0"/>
                </a:moveTo>
                <a:lnTo>
                  <a:pt x="7179569" y="0"/>
                </a:lnTo>
                <a:lnTo>
                  <a:pt x="7179569" y="10695820"/>
                </a:lnTo>
                <a:lnTo>
                  <a:pt x="0" y="10695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57838" y="4295236"/>
            <a:ext cx="7172325" cy="133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0"/>
              </a:lnSpc>
              <a:spcBef>
                <a:spcPct val="0"/>
              </a:spcBef>
            </a:pPr>
            <a:r>
              <a:rPr lang="en-US" b="true" sz="9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16480" y="0"/>
            <a:ext cx="7371520" cy="10287000"/>
            <a:chOff x="0" y="0"/>
            <a:chExt cx="194147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41470" cy="2709333"/>
            </a:xfrm>
            <a:custGeom>
              <a:avLst/>
              <a:gdLst/>
              <a:ahLst/>
              <a:cxnLst/>
              <a:rect r="r" b="b" t="t" l="l"/>
              <a:pathLst>
                <a:path h="2709333" w="1941470">
                  <a:moveTo>
                    <a:pt x="0" y="0"/>
                  </a:moveTo>
                  <a:lnTo>
                    <a:pt x="1941470" y="0"/>
                  </a:lnTo>
                  <a:lnTo>
                    <a:pt x="194147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941470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0887905" y="0"/>
            <a:ext cx="47625" cy="10287000"/>
            <a:chOff x="0" y="0"/>
            <a:chExt cx="1254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43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543">
                  <a:moveTo>
                    <a:pt x="0" y="0"/>
                  </a:moveTo>
                  <a:lnTo>
                    <a:pt x="12543" y="0"/>
                  </a:lnTo>
                  <a:lnTo>
                    <a:pt x="12543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2543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263119" y="2964647"/>
            <a:ext cx="6678241" cy="574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4"/>
              </a:lnSpc>
            </a:pPr>
            <a:r>
              <a:rPr lang="en-US" sz="29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The core problem we address is Authorship Identification (AID) within a multiclass classification framework. Specifically, given a text excerpt of unknown origin, the system must accurately attribute it to one of 21 candidate authors from the AbjadAuthorID EACL 2026 shared task.</a:t>
            </a:r>
          </a:p>
          <a:p>
            <a:pPr algn="just">
              <a:lnSpc>
                <a:spcPts val="4164"/>
              </a:lnSpc>
            </a:pPr>
          </a:p>
          <a:p>
            <a:pPr algn="just">
              <a:lnSpc>
                <a:spcPts val="416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82845"/>
            <a:ext cx="8387253" cy="263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4"/>
              </a:lnSpc>
            </a:pPr>
            <a:r>
              <a:rPr lang="en-US" sz="925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2361" y="810905"/>
            <a:ext cx="600331" cy="600331"/>
          </a:xfrm>
          <a:custGeom>
            <a:avLst/>
            <a:gdLst/>
            <a:ahLst/>
            <a:cxnLst/>
            <a:rect r="r" b="b" t="t" l="l"/>
            <a:pathLst>
              <a:path h="600331" w="600331">
                <a:moveTo>
                  <a:pt x="0" y="0"/>
                </a:moveTo>
                <a:lnTo>
                  <a:pt x="600331" y="0"/>
                </a:lnTo>
                <a:lnTo>
                  <a:pt x="600331" y="600331"/>
                </a:lnTo>
                <a:lnTo>
                  <a:pt x="0" y="6003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grpSp>
        <p:nvGrpSpPr>
          <p:cNvPr name="Group 4" id="4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8456" y="2500643"/>
            <a:ext cx="16118183" cy="6174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0" indent="-313690" lvl="1">
              <a:lnSpc>
                <a:spcPts val="4068"/>
              </a:lnSpc>
              <a:buFont typeface="Arial"/>
              <a:buChar char="•"/>
            </a:pPr>
            <a:r>
              <a:rPr lang="en-US" sz="290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Evolution of Writing Style Analysis: The field has progressed from traditional machine learning techniques, such as SVMs relying on n-grams and punctuation features, to deep learning models like CNNs and LSTMs. More recently, transformer-based models such as BERT have become the dominant approach, as they more effectively capture complex contextual patterns and authorial writing style.</a:t>
            </a:r>
          </a:p>
          <a:p>
            <a:pPr algn="l">
              <a:lnSpc>
                <a:spcPts val="4068"/>
              </a:lnSpc>
            </a:pPr>
          </a:p>
          <a:p>
            <a:pPr algn="l" marL="627380" indent="-313690" lvl="1">
              <a:lnSpc>
                <a:spcPts val="4068"/>
              </a:lnSpc>
              <a:buFont typeface="Arial"/>
              <a:buChar char="•"/>
            </a:pPr>
            <a:r>
              <a:rPr lang="en-US" sz="290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Arabic Linguistic Challenge: Authorship Identification in Arabic is uniquely difficult due to its rich morphology and orthographic variability (diacritics/elongations). This necessitates language-specific models like AraBERT, which provides specialized preprocessing to normalize and segment these complex structures.</a:t>
            </a:r>
          </a:p>
          <a:p>
            <a:pPr algn="l">
              <a:lnSpc>
                <a:spcPts val="406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-3363507" y="565350"/>
            <a:ext cx="17345468" cy="100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282"/>
              </a:lnSpc>
            </a:pPr>
            <a:r>
              <a:rPr lang="en-US" sz="5916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                        Related work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62885" y="4295236"/>
            <a:ext cx="7362230" cy="133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0"/>
              </a:lnSpc>
              <a:spcBef>
                <a:spcPct val="0"/>
              </a:spcBef>
            </a:pPr>
            <a:r>
              <a:rPr lang="en-US" b="true" sz="90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Contribution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02077" y="0"/>
            <a:ext cx="15885923" cy="10287000"/>
            <a:chOff x="0" y="0"/>
            <a:chExt cx="418394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83947" cy="2709333"/>
            </a:xfrm>
            <a:custGeom>
              <a:avLst/>
              <a:gdLst/>
              <a:ahLst/>
              <a:cxnLst/>
              <a:rect r="r" b="b" t="t" l="l"/>
              <a:pathLst>
                <a:path h="2709333" w="4183947">
                  <a:moveTo>
                    <a:pt x="0" y="0"/>
                  </a:moveTo>
                  <a:lnTo>
                    <a:pt x="4183947" y="0"/>
                  </a:lnTo>
                  <a:lnTo>
                    <a:pt x="418394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183947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551460" y="1152742"/>
            <a:ext cx="15233954" cy="780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5919" indent="-337959" lvl="1">
              <a:lnSpc>
                <a:spcPts val="5635"/>
              </a:lnSpc>
              <a:buFont typeface="Arial"/>
              <a:buChar char="•"/>
            </a:pPr>
            <a:r>
              <a:rPr lang="en-US" b="true" sz="313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Comparative 3-Experiment Framework:</a:t>
            </a:r>
            <a:r>
              <a:rPr lang="en-US" sz="313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 Evaluated three distinct architectures to find the optimal solution: </a:t>
            </a:r>
            <a:r>
              <a:rPr lang="en-US" b="true" sz="3130">
                <a:solidFill>
                  <a:srgbClr val="4A8207"/>
                </a:solidFill>
                <a:latin typeface="DM Sans Bold"/>
                <a:ea typeface="DM Sans Bold"/>
                <a:cs typeface="DM Sans Bold"/>
                <a:sym typeface="DM Sans Bold"/>
              </a:rPr>
              <a:t>AraBERT, MARBERT, and Zero-shot Large Language Models (LLMs)</a:t>
            </a:r>
            <a:r>
              <a:rPr lang="en-US" sz="313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, providing a comprehensive analysis of their performance in Arabic authorship attribution.</a:t>
            </a:r>
          </a:p>
          <a:p>
            <a:pPr algn="just" marL="675919" indent="-337959" lvl="1">
              <a:lnSpc>
                <a:spcPts val="5635"/>
              </a:lnSpc>
              <a:buFont typeface="Arial"/>
              <a:buChar char="•"/>
            </a:pPr>
            <a:r>
              <a:rPr lang="en-US" b="true" sz="313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Custom Architectural Engineering: </a:t>
            </a:r>
            <a:r>
              <a:rPr lang="en-US" sz="313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Developed a Sliding Window strategy (128-stride) to preserve context in long-form prose and implemented Weighted Loss to ensure classification fairness across imbalanced datasets.</a:t>
            </a:r>
          </a:p>
          <a:p>
            <a:pPr algn="just" marL="675919" indent="-337959" lvl="1">
              <a:lnSpc>
                <a:spcPts val="5635"/>
              </a:lnSpc>
              <a:buFont typeface="Arial"/>
              <a:buChar char="•"/>
            </a:pPr>
            <a:r>
              <a:rPr lang="en-US" b="true" sz="3130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State-of-the-Art Results:</a:t>
            </a:r>
            <a:r>
              <a:rPr lang="en-US" sz="313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3130">
                <a:solidFill>
                  <a:srgbClr val="4A8207"/>
                </a:solidFill>
                <a:latin typeface="DM Sans"/>
                <a:ea typeface="DM Sans"/>
                <a:cs typeface="DM Sans"/>
                <a:sym typeface="DM Sans"/>
              </a:rPr>
              <a:t>Achieved a peak Accuracy of 90% and 87% Macro-F1</a:t>
            </a:r>
            <a:r>
              <a:rPr lang="en-US" sz="3130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, outperforming LLM baselines and securing 3rd Place globally in the AbjadAuthorID  EACL 2026 competition.</a:t>
            </a:r>
          </a:p>
          <a:p>
            <a:pPr algn="just">
              <a:lnSpc>
                <a:spcPts val="563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2692" y="5374997"/>
            <a:ext cx="12101018" cy="180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34"/>
              </a:lnSpc>
            </a:pPr>
            <a:r>
              <a:rPr lang="en-US" sz="1002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668990" cy="10287000"/>
            <a:chOff x="0" y="0"/>
            <a:chExt cx="1493067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9306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493067">
                  <a:moveTo>
                    <a:pt x="0" y="0"/>
                  </a:moveTo>
                  <a:lnTo>
                    <a:pt x="1493067" y="0"/>
                  </a:lnTo>
                  <a:lnTo>
                    <a:pt x="149306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493067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5530962" y="0"/>
            <a:ext cx="276056" cy="10287000"/>
            <a:chOff x="0" y="0"/>
            <a:chExt cx="72706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706" cy="2709333"/>
            </a:xfrm>
            <a:custGeom>
              <a:avLst/>
              <a:gdLst/>
              <a:ahLst/>
              <a:cxnLst/>
              <a:rect r="r" b="b" t="t" l="l"/>
              <a:pathLst>
                <a:path h="2709333" w="72706">
                  <a:moveTo>
                    <a:pt x="0" y="0"/>
                  </a:moveTo>
                  <a:lnTo>
                    <a:pt x="72706" y="0"/>
                  </a:lnTo>
                  <a:lnTo>
                    <a:pt x="72706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72706" cy="270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aphicFrame>
        <p:nvGraphicFramePr>
          <p:cNvPr name="Object 8" id="8"/>
          <p:cNvGraphicFramePr/>
          <p:nvPr/>
        </p:nvGraphicFramePr>
        <p:xfrm>
          <a:off x="7258050" y="2091785"/>
          <a:ext cx="3771900" cy="4400550"/>
        </p:xfrm>
        <a:graphic>
          <a:graphicData uri="http://schemas.openxmlformats.org/presentationml/2006/ole">
            <p:oleObj imgW="4648200" imgH="5270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9" id="9"/>
          <p:cNvSpPr txBox="true"/>
          <p:nvPr/>
        </p:nvSpPr>
        <p:spPr>
          <a:xfrm rot="-5400000">
            <a:off x="-1620508" y="4041946"/>
            <a:ext cx="9014782" cy="2851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5"/>
              </a:lnSpc>
            </a:pPr>
            <a:r>
              <a:rPr lang="en-US" sz="10635" b="true">
                <a:solidFill>
                  <a:srgbClr val="0B4B49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130" y="2312325"/>
            <a:ext cx="16832795" cy="5447012"/>
          </a:xfrm>
          <a:custGeom>
            <a:avLst/>
            <a:gdLst/>
            <a:ahLst/>
            <a:cxnLst/>
            <a:rect r="r" b="b" t="t" l="l"/>
            <a:pathLst>
              <a:path h="5447012" w="16832795">
                <a:moveTo>
                  <a:pt x="0" y="0"/>
                </a:moveTo>
                <a:lnTo>
                  <a:pt x="16832796" y="0"/>
                </a:lnTo>
                <a:lnTo>
                  <a:pt x="16832796" y="5447012"/>
                </a:lnTo>
                <a:lnTo>
                  <a:pt x="0" y="544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2" t="0" r="-6208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62692" y="3980092"/>
            <a:ext cx="8178382" cy="467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0"/>
              </a:lnSpc>
            </a:pPr>
            <a:r>
              <a:rPr lang="en-US" sz="873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Transforming Finance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606" y="2247897"/>
            <a:ext cx="16982744" cy="701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64"/>
              </a:lnSpc>
            </a:pPr>
            <a:r>
              <a:rPr lang="en-US" sz="39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Identified 3major problems during the data exploration phase:</a:t>
            </a:r>
          </a:p>
          <a:p>
            <a:pPr algn="just" marL="599098" indent="-299549" lvl="1">
              <a:lnSpc>
                <a:spcPts val="3884"/>
              </a:lnSpc>
              <a:buAutoNum type="arabicPeriod" startAt="1"/>
            </a:pPr>
            <a:r>
              <a:rPr lang="en-US" b="true" sz="2774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Class Imbalance:</a:t>
            </a: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 The number of samples per author is not equal. Some authors have a vast amount of data, while others have very few.</a:t>
            </a:r>
          </a:p>
          <a:p>
            <a:pPr algn="just" marL="1198196" indent="-399399" lvl="2">
              <a:lnSpc>
                <a:spcPts val="3884"/>
              </a:lnSpc>
              <a:buFont typeface="Arial"/>
              <a:buChar char="⚬"/>
            </a:pP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Impact: This could lead the model to "bias" towards majority authors.</a:t>
            </a:r>
          </a:p>
          <a:p>
            <a:pPr algn="just" marL="599098" indent="-299549" lvl="1">
              <a:lnSpc>
                <a:spcPts val="3884"/>
              </a:lnSpc>
              <a:buAutoNum type="arabicPeriod" startAt="1"/>
            </a:pPr>
            <a:r>
              <a:rPr lang="en-US" b="true" sz="2774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Length Variability &amp; Truncation:</a:t>
            </a:r>
          </a:p>
          <a:p>
            <a:pPr algn="just" marL="1198196" indent="-399399" lvl="2">
              <a:lnSpc>
                <a:spcPts val="3884"/>
              </a:lnSpc>
              <a:buFont typeface="Arial"/>
              <a:buChar char="⚬"/>
            </a:pP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Many text excerpts were much longer than the standard transformer limit (512 tokens).</a:t>
            </a:r>
          </a:p>
          <a:p>
            <a:pPr algn="just" marL="1198196" indent="-399399" lvl="2">
              <a:lnSpc>
                <a:spcPts val="3884"/>
              </a:lnSpc>
              <a:buFont typeface="Arial"/>
              <a:buChar char="⚬"/>
            </a:pP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Impact: A significant portion of the text might be lost if not handled properly (Leading to the trade-off between Truncation in AraBERT vs. Sliding Window in MARBERT).</a:t>
            </a:r>
          </a:p>
          <a:p>
            <a:pPr algn="just" marL="599098" indent="-299549" lvl="1">
              <a:lnSpc>
                <a:spcPts val="3884"/>
              </a:lnSpc>
              <a:buAutoNum type="arabicPeriod" startAt="1"/>
            </a:pPr>
            <a:r>
              <a:rPr lang="en-US" b="true" sz="2774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Orthographic Noise:</a:t>
            </a:r>
          </a:p>
          <a:p>
            <a:pPr algn="just" marL="1198196" indent="-399399" lvl="2">
              <a:lnSpc>
                <a:spcPts val="3884"/>
              </a:lnSpc>
              <a:buFont typeface="Arial"/>
              <a:buChar char="⚬"/>
            </a:pP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Arabic text often contains inconsistencies in character normalization (e.g., variations of </a:t>
            </a:r>
            <a:r>
              <a:rPr lang="ar-EG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  <a:rtl val="true"/>
              </a:rPr>
              <a:t>أ, ا, إ</a:t>
            </a: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ar-EG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  <a:rtl val="true"/>
              </a:rPr>
              <a:t>ى, ي</a:t>
            </a: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</a:p>
          <a:p>
            <a:pPr algn="just" marL="1198196" indent="-399399" lvl="2">
              <a:lnSpc>
                <a:spcPts val="3884"/>
              </a:lnSpc>
              <a:buFont typeface="Arial"/>
              <a:buChar char="⚬"/>
            </a:pPr>
            <a:r>
              <a:rPr lang="en-US" sz="2774">
                <a:solidFill>
                  <a:srgbClr val="0B4B49"/>
                </a:solidFill>
                <a:latin typeface="DM Sans"/>
                <a:ea typeface="DM Sans"/>
                <a:cs typeface="DM Sans"/>
                <a:sym typeface="DM Sans"/>
              </a:rPr>
              <a:t>Impact: If not normalized, the model might treat the same word as two different words, confusing the stylistic analysis.</a:t>
            </a:r>
          </a:p>
          <a:p>
            <a:pPr algn="just">
              <a:lnSpc>
                <a:spcPts val="388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310440" y="855240"/>
            <a:ext cx="6174052" cy="825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  <a:spcBef>
                <a:spcPct val="0"/>
              </a:spcBef>
            </a:pPr>
            <a:r>
              <a:rPr lang="en-US" b="true" sz="55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Dataset Problem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413" y="486438"/>
            <a:ext cx="16729943" cy="9452418"/>
          </a:xfrm>
          <a:custGeom>
            <a:avLst/>
            <a:gdLst/>
            <a:ahLst/>
            <a:cxnLst/>
            <a:rect r="r" b="b" t="t" l="l"/>
            <a:pathLst>
              <a:path h="9452418" w="16729943">
                <a:moveTo>
                  <a:pt x="0" y="0"/>
                </a:moveTo>
                <a:lnTo>
                  <a:pt x="16729943" y="0"/>
                </a:lnTo>
                <a:lnTo>
                  <a:pt x="16729943" y="9452418"/>
                </a:lnTo>
                <a:lnTo>
                  <a:pt x="0" y="94524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01122" y="995055"/>
            <a:ext cx="16685756" cy="817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5"/>
              </a:lnSpc>
            </a:pPr>
            <a:r>
              <a:rPr lang="en-US" sz="4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 conducted three experiments to identify the best stylistic fit for Arabic author profiling:</a:t>
            </a:r>
          </a:p>
          <a:p>
            <a:pPr algn="l" marL="924579" indent="-462290" lvl="1">
              <a:lnSpc>
                <a:spcPts val="5995"/>
              </a:lnSpc>
              <a:buAutoNum type="arabicPeriod" startAt="1"/>
            </a:pPr>
            <a:r>
              <a:rPr lang="en-US" b="true" sz="42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MARBERTv2</a:t>
            </a:r>
            <a:r>
              <a:rPr lang="en-US" b="true" sz="42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  <a:r>
              <a:rPr lang="en-US" sz="4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 SOTA Arabic Transformer designed primarily for social media and dialectal Arabic.</a:t>
            </a:r>
          </a:p>
          <a:p>
            <a:pPr algn="l" marL="924579" indent="-462290" lvl="1">
              <a:lnSpc>
                <a:spcPts val="5995"/>
              </a:lnSpc>
              <a:buAutoNum type="arabicPeriod" startAt="1"/>
            </a:pPr>
            <a:r>
              <a:rPr lang="en-US" b="true" sz="42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AraBERTv2</a:t>
            </a:r>
            <a:r>
              <a:rPr lang="en-US" b="true" sz="42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(Best Performing): </a:t>
            </a:r>
            <a:r>
              <a:rPr lang="en-US" sz="4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SOTA Arabic Transformer optimized for Modern Standard Arabic (MSA) and formal prose.</a:t>
            </a:r>
          </a:p>
          <a:p>
            <a:pPr algn="l" marL="924579" indent="-462290" lvl="1">
              <a:lnSpc>
                <a:spcPts val="5995"/>
              </a:lnSpc>
              <a:buAutoNum type="arabicPeriod" startAt="1"/>
            </a:pPr>
            <a:r>
              <a:rPr lang="en-US" b="true" sz="428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Zero-Shot LLM Prompting:</a:t>
            </a:r>
            <a:r>
              <a:rPr lang="en-US" sz="428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using LLMs without task-specific fine-tuning to evaluate stylistic attribution in a zero-shot setting.</a:t>
            </a:r>
          </a:p>
          <a:p>
            <a:pPr algn="l">
              <a:lnSpc>
                <a:spcPts val="421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2531" y="2058952"/>
            <a:ext cx="16722939" cy="7546226"/>
          </a:xfrm>
          <a:custGeom>
            <a:avLst/>
            <a:gdLst/>
            <a:ahLst/>
            <a:cxnLst/>
            <a:rect r="r" b="b" t="t" l="l"/>
            <a:pathLst>
              <a:path h="7546226" w="16722939">
                <a:moveTo>
                  <a:pt x="0" y="0"/>
                </a:moveTo>
                <a:lnTo>
                  <a:pt x="16722938" y="0"/>
                </a:lnTo>
                <a:lnTo>
                  <a:pt x="16722938" y="7546226"/>
                </a:lnTo>
                <a:lnTo>
                  <a:pt x="0" y="754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2531" y="845715"/>
            <a:ext cx="16722939" cy="49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b="true" sz="335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Proposed Pipeline -Best Experiment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0830" y="2860711"/>
            <a:ext cx="11526340" cy="433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8"/>
              </a:lnSpc>
            </a:pPr>
            <a:r>
              <a:rPr lang="en-US" sz="81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 1: MARBERT v2 Fine-tuning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0312" y="962025"/>
            <a:ext cx="17927377" cy="8882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3526" indent="-421763" lvl="1">
              <a:lnSpc>
                <a:spcPts val="5469"/>
              </a:lnSpc>
              <a:buFont typeface="Arial"/>
              <a:buChar char="•"/>
            </a:pPr>
            <a:r>
              <a:rPr lang="en-US" b="true" sz="390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Model Configuration</a:t>
            </a:r>
          </a:p>
          <a:p>
            <a:pPr algn="just" marL="1687051" indent="-562350" lvl="2">
              <a:lnSpc>
                <a:spcPts val="5469"/>
              </a:lnSpc>
              <a:buFont typeface="Arial"/>
              <a:buChar char="⚬"/>
            </a:pPr>
            <a:r>
              <a:rPr lang="en-US" sz="390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Fixed sequence length of 512 tokens</a:t>
            </a:r>
          </a:p>
          <a:p>
            <a:pPr algn="just" marL="1687051" indent="-562350" lvl="2">
              <a:lnSpc>
                <a:spcPts val="5469"/>
              </a:lnSpc>
              <a:buFont typeface="Arial"/>
              <a:buChar char="⚬"/>
            </a:pPr>
            <a:r>
              <a:rPr lang="en-US" sz="390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 overlap between segments (no sliding window)</a:t>
            </a:r>
          </a:p>
          <a:p>
            <a:pPr algn="just" marL="843526" indent="-421763" lvl="1">
              <a:lnSpc>
                <a:spcPts val="5469"/>
              </a:lnSpc>
              <a:buFont typeface="Arial"/>
              <a:buChar char="•"/>
            </a:pPr>
            <a:r>
              <a:rPr lang="en-US" b="true" sz="390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Training Parameters</a:t>
            </a:r>
          </a:p>
          <a:p>
            <a:pPr algn="just" marL="1687051" indent="-562350" lvl="2">
              <a:lnSpc>
                <a:spcPts val="5469"/>
              </a:lnSpc>
              <a:buFont typeface="Arial"/>
              <a:buChar char="⚬"/>
            </a:pPr>
            <a:r>
              <a:rPr lang="en-US" sz="390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Trained for 3 epochs</a:t>
            </a:r>
          </a:p>
          <a:p>
            <a:pPr algn="just" marL="843526" indent="-421763" lvl="1">
              <a:lnSpc>
                <a:spcPts val="5469"/>
              </a:lnSpc>
              <a:buFont typeface="Arial"/>
              <a:buChar char="•"/>
            </a:pPr>
            <a:r>
              <a:rPr lang="en-US" b="true" sz="390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Results</a:t>
            </a:r>
          </a:p>
          <a:p>
            <a:pPr algn="just" marL="1687051" indent="-562350" lvl="2">
              <a:lnSpc>
                <a:spcPts val="5469"/>
              </a:lnSpc>
              <a:buFont typeface="Arial"/>
              <a:buChar char="⚬"/>
            </a:pPr>
            <a:r>
              <a:rPr lang="en-US" sz="390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Accuracy: 87%</a:t>
            </a:r>
          </a:p>
          <a:p>
            <a:pPr algn="just" marL="1687051" indent="-562350" lvl="2">
              <a:lnSpc>
                <a:spcPts val="5469"/>
              </a:lnSpc>
              <a:buFont typeface="Arial"/>
              <a:buChar char="⚬"/>
            </a:pPr>
            <a:r>
              <a:rPr lang="en-US" sz="390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Macro F1-score: 80%</a:t>
            </a:r>
          </a:p>
          <a:p>
            <a:pPr algn="just" marL="843526" indent="-421763" lvl="1">
              <a:lnSpc>
                <a:spcPts val="5469"/>
              </a:lnSpc>
              <a:buFont typeface="Arial"/>
              <a:buChar char="•"/>
            </a:pPr>
            <a:r>
              <a:rPr lang="en-US" b="true" sz="390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Insight</a:t>
            </a:r>
          </a:p>
          <a:p>
            <a:pPr algn="just" marL="1687051" indent="-562350" lvl="2">
              <a:lnSpc>
                <a:spcPts val="5469"/>
              </a:lnSpc>
              <a:buFont typeface="Arial"/>
              <a:buChar char="⚬"/>
            </a:pPr>
            <a:r>
              <a:rPr lang="en-US" sz="390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While the</a:t>
            </a:r>
            <a:r>
              <a:rPr lang="en-US" sz="390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results were strong, we realized that by not using an overlap, the model was potentially missing stylistic transitions between text segments, leading to a loss of contextual flow that defines an author's unique "fingerprint”.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26655" y="243521"/>
            <a:ext cx="5911097" cy="49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b="true" sz="33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First Approach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80BFA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6165" y="1099227"/>
            <a:ext cx="17255669" cy="8271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7318" indent="-388659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Handling Long-Form </a:t>
            </a: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Text (Sliding Window)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Implemented custom tokenization using a 512-token window with 256-token overlap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Preserved contextual continuity across long documents</a:t>
            </a:r>
          </a:p>
          <a:p>
            <a:pPr algn="just" marL="777318" indent="-388659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Addressing Cl</a:t>
            </a: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ass Imbalance (Weighted Trainer)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esigned a custom WeightedTrainer by overriding compute_loss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Appli</a:t>
            </a: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class-weighted cross-entropy loss to emphasize minority authors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educed bias toward majority classes and improved training stability</a:t>
            </a:r>
          </a:p>
          <a:p>
            <a:pPr algn="just" marL="777318" indent="-388659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Impact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Macro F1-score: 84%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Accuracy: 88%</a:t>
            </a:r>
          </a:p>
          <a:p>
            <a:pPr algn="just" marL="1554635" indent="-518212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Achieved stable and balanced classification performance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092030" y="373297"/>
            <a:ext cx="5911097" cy="49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5"/>
              </a:lnSpc>
              <a:spcBef>
                <a:spcPct val="0"/>
              </a:spcBef>
            </a:pPr>
            <a:r>
              <a:rPr lang="en-US" b="true" sz="33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Second Modified Approach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3191" y="2184698"/>
            <a:ext cx="13656866" cy="6112408"/>
          </a:xfrm>
          <a:custGeom>
            <a:avLst/>
            <a:gdLst/>
            <a:ahLst/>
            <a:cxnLst/>
            <a:rect r="r" b="b" t="t" l="l"/>
            <a:pathLst>
              <a:path h="6112408" w="13656866">
                <a:moveTo>
                  <a:pt x="0" y="0"/>
                </a:moveTo>
                <a:lnTo>
                  <a:pt x="13656866" y="0"/>
                </a:lnTo>
                <a:lnTo>
                  <a:pt x="13656866" y="6112408"/>
                </a:lnTo>
                <a:lnTo>
                  <a:pt x="0" y="6112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0830" y="2860711"/>
            <a:ext cx="11526340" cy="433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8"/>
              </a:lnSpc>
            </a:pPr>
            <a:r>
              <a:rPr lang="en-US" sz="81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 2: AraBERT v2 Fine-tuning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4888" y="1879798"/>
            <a:ext cx="17138224" cy="738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395" indent="-320697" lvl="1">
              <a:lnSpc>
                <a:spcPts val="4159"/>
              </a:lnSpc>
              <a:buFont typeface="Arial"/>
              <a:buChar char="•"/>
            </a:pPr>
            <a:r>
              <a:rPr lang="en-US" b="true" sz="2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</a:t>
            </a:r>
            <a:r>
              <a:rPr lang="en-US" b="true" sz="2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 Backbone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on AraBERTv2-base, specifically optimized for Modern Standard Arabic (MSA)</a:t>
            </a:r>
          </a:p>
          <a:p>
            <a:pPr algn="l" marL="641395" indent="-320697" lvl="1">
              <a:lnSpc>
                <a:spcPts val="4159"/>
              </a:lnSpc>
              <a:buFont typeface="Arial"/>
              <a:buChar char="•"/>
            </a:pPr>
            <a:r>
              <a:rPr lang="en-US" b="true" sz="2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Applied the official AraBERT preprocessing pipeline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Removed Tashkeel, Tatweel, and normalized Arabic text</a:t>
            </a:r>
          </a:p>
          <a:p>
            <a:pPr algn="l" marL="641395" indent="-320697" lvl="1">
              <a:lnSpc>
                <a:spcPts val="4159"/>
              </a:lnSpc>
              <a:buFont typeface="Arial"/>
              <a:buChar char="•"/>
            </a:pPr>
            <a:r>
              <a:rPr lang="en-US" b="true" sz="2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Optimized Training Setup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Learning rate: 2e-5 for stable and efficient convergence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Tokenization stride: 128 tokens to preserve contextual continuity while maintaining computational efficiency</a:t>
            </a:r>
          </a:p>
          <a:p>
            <a:pPr algn="l" marL="641395" indent="-320697" lvl="1">
              <a:lnSpc>
                <a:spcPts val="4159"/>
              </a:lnSpc>
              <a:buFont typeface="Arial"/>
              <a:buChar char="•"/>
            </a:pPr>
            <a:r>
              <a:rPr lang="en-US" b="true" sz="29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Final Results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Accuracy: 90%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Macro F1-score: 87%</a:t>
            </a:r>
          </a:p>
          <a:p>
            <a:pPr algn="l" marL="1282789" indent="-427596" lvl="2">
              <a:lnSpc>
                <a:spcPts val="4159"/>
              </a:lnSpc>
              <a:buFont typeface="Arial"/>
              <a:buChar char="⚬"/>
            </a:pPr>
            <a:r>
              <a:rPr lang="en-US" sz="29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Achieved 3rd Place in the workshop competition</a:t>
            </a:r>
          </a:p>
          <a:p>
            <a:pPr algn="l">
              <a:lnSpc>
                <a:spcPts val="4607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574888" y="736551"/>
            <a:ext cx="13740528" cy="54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6"/>
              </a:lnSpc>
              <a:spcBef>
                <a:spcPct val="0"/>
              </a:spcBef>
            </a:pPr>
            <a:r>
              <a:rPr lang="en-US" b="true" sz="36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Experiement 2- A</a:t>
            </a:r>
            <a:r>
              <a:rPr lang="en-US" b="true" sz="36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raBERTv2 Model Implementation: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78980" y="2734757"/>
            <a:ext cx="13735695" cy="5302637"/>
          </a:xfrm>
          <a:custGeom>
            <a:avLst/>
            <a:gdLst/>
            <a:ahLst/>
            <a:cxnLst/>
            <a:rect r="r" b="b" t="t" l="l"/>
            <a:pathLst>
              <a:path h="5302637" w="13735695">
                <a:moveTo>
                  <a:pt x="0" y="0"/>
                </a:moveTo>
                <a:lnTo>
                  <a:pt x="13735695" y="0"/>
                </a:lnTo>
                <a:lnTo>
                  <a:pt x="13735695" y="5302637"/>
                </a:lnTo>
                <a:lnTo>
                  <a:pt x="0" y="530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95" t="-1835" r="-429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4888" y="736551"/>
            <a:ext cx="13740528" cy="54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6"/>
              </a:lnSpc>
              <a:spcBef>
                <a:spcPct val="0"/>
              </a:spcBef>
            </a:pPr>
            <a:r>
              <a:rPr lang="en-US" b="true" sz="36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Experiement 2- A</a:t>
            </a:r>
            <a:r>
              <a:rPr lang="en-US" b="true" sz="36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raBERTv2 Model Implementation: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0830" y="2860711"/>
            <a:ext cx="11526340" cy="4336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8"/>
              </a:lnSpc>
            </a:pPr>
            <a:r>
              <a:rPr lang="en-US" sz="81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 3: Zero-Shot LLM-Based Prompt Engineering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4888" y="736551"/>
            <a:ext cx="13740528" cy="54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6"/>
              </a:lnSpc>
              <a:spcBef>
                <a:spcPct val="0"/>
              </a:spcBef>
            </a:pPr>
            <a:r>
              <a:rPr lang="en-US" b="true" sz="36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Experiement 3- Zero Shot Prompting</a:t>
            </a:r>
            <a:r>
              <a:rPr lang="en-US" b="true" sz="36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0827" y="2500643"/>
            <a:ext cx="16065811" cy="619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373" indent="-291186" lvl="1">
              <a:lnSpc>
                <a:spcPts val="3776"/>
              </a:lnSpc>
              <a:buFont typeface="Arial"/>
              <a:buChar char="•"/>
            </a:pPr>
            <a:r>
              <a:rPr lang="en-US" b="true" sz="26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Experimental Setup: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Zero-shot prompt classification using a </a:t>
            </a:r>
            <a:r>
              <a:rPr lang="en-US" b="true" sz="26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Deepseek v3.2 </a:t>
            </a: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LLM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fine-tuning; relied only on prompt engineering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author's name (target) was defined in the prompt, and based on the Text the LLM was supposed to define to which author this belongs.</a:t>
            </a:r>
          </a:p>
          <a:p>
            <a:pPr algn="l" marL="582373" indent="-291186" lvl="1">
              <a:lnSpc>
                <a:spcPts val="3776"/>
              </a:lnSpc>
              <a:buFont typeface="Arial"/>
              <a:buChar char="•"/>
            </a:pPr>
            <a:r>
              <a:rPr lang="en-US" b="true" sz="26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Results: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Accuracy: 12.53%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F1-score: 5.57%</a:t>
            </a:r>
          </a:p>
          <a:p>
            <a:pPr algn="l" marL="582373" indent="-291186" lvl="1">
              <a:lnSpc>
                <a:spcPts val="3776"/>
              </a:lnSpc>
              <a:buFont typeface="Arial"/>
              <a:buChar char="•"/>
            </a:pPr>
            <a:r>
              <a:rPr lang="en-US" b="true" sz="269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Main Insight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Zero-shot LLMs are not well-suited for authorship attribution tasks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Capturing an author’s stylistic “fingerprint” requires task-specific training</a:t>
            </a:r>
          </a:p>
          <a:p>
            <a:pPr algn="l" marL="1164746" indent="-388249" lvl="2">
              <a:lnSpc>
                <a:spcPts val="3776"/>
              </a:lnSpc>
              <a:buFont typeface="Arial"/>
              <a:buChar char="⚬"/>
            </a:pPr>
            <a:r>
              <a:rPr lang="en-US" sz="269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Highlights the important of fine-tuning domain-specific models for stylistic analysis</a:t>
            </a:r>
          </a:p>
          <a:p>
            <a:pPr algn="l">
              <a:lnSpc>
                <a:spcPts val="3776"/>
              </a:lnSpc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74888" y="736551"/>
            <a:ext cx="13740528" cy="54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6"/>
              </a:lnSpc>
              <a:spcBef>
                <a:spcPct val="0"/>
              </a:spcBef>
            </a:pPr>
            <a:r>
              <a:rPr lang="en-US" b="true" sz="365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Prompt: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3001" y="2113609"/>
            <a:ext cx="16621998" cy="6630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أنت خبير في تحليل الأسلوب الأدبي العربي. مهمتك هي تحديد كاتب النص التالي من بين قائمة من المؤلفين.</a:t>
            </a:r>
          </a:p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 قائمة المؤلفين المحتملين: {(</a:t>
            </a:r>
            <a:r>
              <a:rPr lang="en-US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authors_list</a:t>
            </a: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)}</a:t>
            </a:r>
          </a:p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النص المراد تحليله: {</a:t>
            </a:r>
            <a:r>
              <a:rPr lang="en-US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text</a:t>
            </a: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}</a:t>
            </a:r>
          </a:p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 قم بتحليل:</a:t>
            </a:r>
          </a:p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 </a:t>
            </a:r>
            <a:r>
              <a:rPr lang="en-US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 الأسلوب الأدبي والبلاغي</a:t>
            </a:r>
          </a:p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 </a:t>
            </a:r>
            <a:r>
              <a:rPr lang="en-US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 المفردات والتراكيب اللغوية المستخدمة</a:t>
            </a:r>
          </a:p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 </a:t>
            </a:r>
            <a:r>
              <a:rPr lang="en-US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 الموضوعات والأفكار المطروحة </a:t>
            </a:r>
          </a:p>
          <a:p>
            <a:pPr algn="just" rtl="true">
              <a:lnSpc>
                <a:spcPts val="4776"/>
              </a:lnSpc>
            </a:pPr>
            <a:r>
              <a:rPr lang="en-US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. السمات الأسلوبية المميزة </a:t>
            </a:r>
          </a:p>
          <a:p>
            <a:pPr algn="just" rtl="true">
              <a:lnSpc>
                <a:spcPts val="4776"/>
              </a:lnSpc>
            </a:pPr>
            <a:r>
              <a:rPr lang="ar-EG" sz="34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rtl val="true"/>
              </a:rPr>
              <a:t>بناءً على تحليلك، أجب فقط باسم المؤلف من القائمة المعطاة. لا تضف أي تفسيرات أو نصوص إضافية. الإجابة (اسم المؤلف فقط)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80830" y="3920316"/>
            <a:ext cx="11526340" cy="146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78"/>
              </a:lnSpc>
            </a:pPr>
            <a:r>
              <a:rPr lang="en-US" sz="812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grpSp>
        <p:nvGrpSpPr>
          <p:cNvPr name="Group 3" id="3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019101" y="243341"/>
            <a:ext cx="9168156" cy="192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4"/>
              </a:lnSpc>
            </a:pPr>
          </a:p>
          <a:p>
            <a:pPr algn="ctr">
              <a:lnSpc>
                <a:spcPts val="5844"/>
              </a:lnSpc>
            </a:pPr>
            <a:r>
              <a:rPr lang="en-US" sz="4174" b="true">
                <a:solidFill>
                  <a:srgbClr val="0B4B49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Performance Metrics</a:t>
            </a:r>
          </a:p>
          <a:p>
            <a:pPr algn="ctr">
              <a:lnSpc>
                <a:spcPts val="416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88132" y="2747274"/>
            <a:ext cx="16562506" cy="570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735" indent="-344368" lvl="1">
              <a:lnSpc>
                <a:spcPts val="6380"/>
              </a:lnSpc>
              <a:buAutoNum type="arabicPeriod" startAt="1"/>
            </a:pPr>
            <a:r>
              <a:rPr lang="en-US" b="true" sz="31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Accuracy</a:t>
            </a:r>
            <a:r>
              <a:rPr lang="en-US" sz="3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-US" sz="3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proportion of total predictions that are correct.</a:t>
            </a:r>
          </a:p>
          <a:p>
            <a:pPr algn="l" marL="710324" indent="-355162" lvl="1">
              <a:lnSpc>
                <a:spcPts val="6580"/>
              </a:lnSpc>
              <a:buAutoNum type="arabicPeriod" startAt="1"/>
            </a:pPr>
            <a:r>
              <a:rPr lang="en-US" b="true" sz="32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Weighted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2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F1 Score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l" marL="1420649" indent="-473550" lvl="2">
              <a:lnSpc>
                <a:spcPts val="6580"/>
              </a:lnSpc>
              <a:buFont typeface="Arial"/>
              <a:buChar char="⚬"/>
            </a:pP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average of F1 scores for each individual class, weighted by the number of actual instances (support) of that class..</a:t>
            </a:r>
          </a:p>
          <a:p>
            <a:pPr algn="l" marL="1420649" indent="-473550" lvl="2">
              <a:lnSpc>
                <a:spcPts val="6580"/>
              </a:lnSpc>
              <a:buFont typeface="Arial"/>
              <a:buChar char="⚬"/>
            </a:pP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Calculates the F1 score for Class A, Class B, etc., separately. Multiplies each score by how many times that class appears in the data.</a:t>
            </a:r>
          </a:p>
          <a:p>
            <a:pPr algn="l">
              <a:lnSpc>
                <a:spcPts val="6380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9680044"/>
            <a:ext cx="18288000" cy="606956"/>
            <a:chOff x="0" y="0"/>
            <a:chExt cx="4816593" cy="159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9857"/>
            </a:xfrm>
            <a:custGeom>
              <a:avLst/>
              <a:gdLst/>
              <a:ahLst/>
              <a:cxnLst/>
              <a:rect r="r" b="b" t="t" l="l"/>
              <a:pathLst>
                <a:path h="1598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857"/>
                  </a:lnTo>
                  <a:lnTo>
                    <a:pt x="0" y="159857"/>
                  </a:lnTo>
                  <a:close/>
                </a:path>
              </a:pathLst>
            </a:custGeom>
            <a:gradFill rotWithShape="true">
              <a:gsLst>
                <a:gs pos="0">
                  <a:srgbClr val="0A3F3A">
                    <a:alpha val="100000"/>
                  </a:srgbClr>
                </a:gs>
                <a:gs pos="50000">
                  <a:srgbClr val="116E71">
                    <a:alpha val="100000"/>
                  </a:srgbClr>
                </a:gs>
                <a:gs pos="100000">
                  <a:srgbClr val="43D8C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816593" cy="15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29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1462692" y="3290172"/>
          <a:ext cx="7543800" cy="2514600"/>
        </p:xfrm>
        <a:graphic>
          <a:graphicData uri="http://schemas.openxmlformats.org/presentationml/2006/ole">
            <p:oleObj imgW="9042400" imgH="4013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629669" y="897686"/>
            <a:ext cx="4039321" cy="38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55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Thynk Unlimited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4528" y="1411236"/>
            <a:ext cx="16982744" cy="82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4"/>
              </a:lnSpc>
            </a:pPr>
            <a:r>
              <a:rPr lang="en-US" sz="4674">
                <a:solidFill>
                  <a:srgbClr val="0B4B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Comparison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2D8A8D">
                <a:alpha val="100000"/>
              </a:srgbClr>
            </a:gs>
            <a:gs pos="50000">
              <a:srgbClr val="0A3F3A">
                <a:alpha val="100000"/>
              </a:srgbClr>
            </a:gs>
            <a:gs pos="100000">
              <a:srgbClr val="2BA697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50035" y="4249733"/>
            <a:ext cx="9191045" cy="161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299"/>
              </a:lnSpc>
            </a:pPr>
            <a:r>
              <a:rPr lang="en-US" sz="94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DAG-9TFZhRE</dc:identifier>
  <dcterms:modified xsi:type="dcterms:W3CDTF">2011-08-01T06:04:30Z</dcterms:modified>
  <cp:revision>1</cp:revision>
  <dc:title>Model Selection</dc:title>
</cp:coreProperties>
</file>